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1005840" cy="0"/>
          </a:xfrm>
          <a:prstGeom prst="line">
            <a:avLst/>
          </a:prstGeom>
          <a:noFill/>
          <a:ln w="31750">
            <a:solidFill>
              <a:srgbClr val="005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UBA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Académico FIUBA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que responde consultas académicas frecuentes de forma rápida, simple y organizada.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académica existe... pero es difícil de encontrar rápido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6" name="Image 0" descr="/home/claude/pptx_build/icon_calenda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6144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79222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Inscripciones, notas, becas y planes de estudio están repartidos en distintas páginas y documentos.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0" name="Image 1" descr="/home/claude/pptx_build/icon_stude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437425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286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consultas, mismas preguntas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26151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preguntan una y otra vez las mismas dudas sobre trámites y fechas académicas.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12724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4" name="Image 2" descr="/home/claude/pptx_build/icon_clipboard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260385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108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poco práctico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25880" y="343814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y planillas extensas no son prácticos para resolver una duda puntual desde el celular.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95020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8" name="Image 3" descr="/home/claude/pptx_build/icon_search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083345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931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encontrar la fuente oficial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25880" y="42611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sabiendo la respuesta, cuesta encontrar el enlace correcto dentro del sitio de la facultad.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que reconoce palabras clave y responde al instante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6" name="Image 0" descr="/home/claude/pptx_build/icon_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08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palabras clave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720" y="17830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consulta ingresada y busca coincidencias con términos frecuentes: inscripciones, notas, becas, planes de estudio.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0" name="Image 1" descr="/home/claude/pptx_build/icon_cod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1401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677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respuestas en Python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88720" y="25420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diccionario asocia cada palabra clave con una respuesta específica y ya redactada.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4" name="Image 2" descr="/home/claude/pptx_build/icon_lin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7296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0266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directos a la facultad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88720" y="3300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incluye un link a la página oficial correspondiente, para llegar rápido a la fuente.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81304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8" name="Image 3" descr="/home/claude/pptx_build/icon_mobi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319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856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visual con Claude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88720" y="405993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se integró en una página web interactiva, moderna y fácil de usar.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pregunta a la respuesta, en cuatro pasos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4148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8" name="Image 0" descr="/home/claude/pptx_build/icon_ch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59" y="22325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escribe su pregunta: inscripciones, notas, becas o plan de estudio.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41448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79192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16352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14700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5" name="Image 1" descr="/home/claude/pptx_build/icon_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611" y="2232599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70632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palabras clave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807208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analiza el texto y lo compara contra el diccionario de palabras clave en Python.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9744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46904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45252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2" descr="/home/claude/pptx_build/icon_lin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163" y="2232599"/>
            <a:ext cx="289682" cy="2896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01184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+ enlace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937760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 respuesta asociada junto con el enlace directo a la página oficial de la facultad.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02552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40296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077456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575804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9" name="Image 3" descr="/home/claude/pptx_build/icon_mobi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715" y="2232599"/>
            <a:ext cx="289682" cy="28968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31736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 Claude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068312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muestra en una web interactiva, visual y fácil de usar.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ser simple de usar y de mantener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7" name="Image 0" descr="/home/claude/pptx_build/icon_cod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406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ampliar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nuevas palabras clave y respuestas es simple, sin tener que reescribir el chatbot desde cero.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2" name="Image 1" descr="/home/claude/pptx_build/icon_mobil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4068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cualquier dispositivo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responsive, pensada para usarse tanto desde el celular como desde la computadora.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7" name="Image 2" descr="/home/claude/pptx_build/icon_cha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48660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curva de aprendizaje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 con escribir la consulta como en una conversación normal, sin instrucciones previas.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3" descr="/home/claude/pptx_build/icon_rocke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8660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y rápido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bases de datos externas ni tiempos de carga: la respuesta aparece al instante.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detrás del desarrollo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7" name="Image 0" descr="/home/claude/pptx_build/icon_brai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406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en la nube donde se programó y probó el chatbot en Python.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2" name="Image 1" descr="/home/claude/pptx_build/icon_cod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4068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elegido para construir toda la lógica del chatbot.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7" name="Image 2" descr="/home/claude/pptx_build/icon_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48660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de herramientas de IA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Utilizadas durante el desarrollo para optimizar y organizar el código.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3" descr="/home/claude/pptx_build/icon_robo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8660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en la etapa final del proyecto para construir la interfaz web del chatbot.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más frecuentes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temas que más preguntan los estudiantes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737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214884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7" name="Image 0" descr="/home/claude/pptx_build/icon_clip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799" y="23057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175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Inscripciones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0" y="1828800"/>
            <a:ext cx="1737360" cy="182880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10128" y="214884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1" name="Image 1" descr="/home/claude/pptx_build/icon_pencil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039" y="230575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16352" y="30175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63440" y="1828800"/>
            <a:ext cx="1737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30368" y="214884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5" name="Image 2" descr="/home/claude/pptx_build/icon_money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279" y="230575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30175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583680" y="1828800"/>
            <a:ext cx="1737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50608" y="214884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9" name="Image 3" descr="/home/claude/pptx_build/icon_boo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519" y="2305751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56832" y="301752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estudio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dispara una respuesta puntual con su enlace oficial correspondiente.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interacción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responde el asistente a una consulta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81328"/>
            <a:ext cx="6949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481328"/>
            <a:ext cx="694944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Shape 5"/>
          <p:cNvSpPr/>
          <p:nvPr/>
        </p:nvSpPr>
        <p:spPr>
          <a:xfrm>
            <a:off x="1216152" y="15727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8" name="Image 0" descr="/home/claude/pptx_build/icon_robo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1644091"/>
            <a:ext cx="131674" cy="1316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Académico FIUBA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167128"/>
            <a:ext cx="3703320" cy="50292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11" name="Text 8"/>
          <p:cNvSpPr/>
          <p:nvPr/>
        </p:nvSpPr>
        <p:spPr>
          <a:xfrm>
            <a:off x="4251960" y="2194560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 inscribo a una materia?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25880" y="2852928"/>
            <a:ext cx="5349240" cy="1463040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294436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 detectada: inscripciones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inscribirte a materias a través del sistema SIU-Guaraní, dentro del período habilitado por la facultad.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info: ingenieria.uba.ar/inscripciones 🔗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25880" y="43616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generada por coincidencia de palabras clave, con enlace directo a la fuente oficial.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video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en funcionamiento, en tiempo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380744"/>
            <a:ext cx="4828032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94560" y="1417320"/>
            <a:ext cx="4754880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Hacé clic para reproducir la demo del chatbot respondiendo consultas reales.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05840" cy="0"/>
          </a:xfrm>
          <a:prstGeom prst="line">
            <a:avLst/>
          </a:prstGeom>
          <a:noFill/>
          <a:ln w="31750">
            <a:solidFill>
              <a:srgbClr val="005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y próximos pasos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200" dirty="0"/>
          </a:p>
        </p:txBody>
      </p:sp>
      <p:pic>
        <p:nvPicPr>
          <p:cNvPr id="5" name="Image 0" descr="/home/claude/pptx_build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instantáneas, sin esperar a Secretaría</a:t>
            </a:r>
            <a:endParaRPr lang="en-US" sz="1200" dirty="0"/>
          </a:p>
        </p:txBody>
      </p:sp>
      <p:pic>
        <p:nvPicPr>
          <p:cNvPr id="7" name="Image 1" descr="/home/claude/pptx_build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las páginas oficiales de la facultad</a:t>
            </a:r>
            <a:endParaRPr lang="en-US" sz="1200" dirty="0"/>
          </a:p>
        </p:txBody>
      </p:sp>
      <p:pic>
        <p:nvPicPr>
          <p:cNvPr id="9" name="Image 2" descr="/home/claude/pptx_build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7063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simple, visual y fácil de usar</a:t>
            </a:r>
            <a:endParaRPr lang="en-US" sz="1200" dirty="0"/>
          </a:p>
        </p:txBody>
      </p:sp>
      <p:pic>
        <p:nvPicPr>
          <p:cNvPr id="11" name="Image 3" descr="/home/claude/pptx_build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098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los temas que más consultan los estudiantes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548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pic>
        <p:nvPicPr>
          <p:cNvPr id="14" name="Image 4" descr="/home/claude/pptx_build/icon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70992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5663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procesamiento de lenguaje natural con IA</a:t>
            </a:r>
            <a:endParaRPr lang="en-US" sz="1200" dirty="0"/>
          </a:p>
        </p:txBody>
      </p:sp>
      <p:pic>
        <p:nvPicPr>
          <p:cNvPr id="16" name="Image 5" descr="/home/claude/pptx_build/icon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24028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5663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consultas sobre horarios de cursada</a:t>
            </a:r>
            <a:endParaRPr lang="en-US" sz="1200" dirty="0"/>
          </a:p>
        </p:txBody>
      </p:sp>
      <p:pic>
        <p:nvPicPr>
          <p:cNvPr id="18" name="Image 6" descr="/home/claude/pptx_build/icon_rocke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77063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5663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cantidad de temas y palabras clave</a:t>
            </a:r>
            <a:endParaRPr lang="en-US" sz="1200" dirty="0"/>
          </a:p>
        </p:txBody>
      </p:sp>
      <p:pic>
        <p:nvPicPr>
          <p:cNvPr id="20" name="Image 7" descr="/home/claude/pptx_build/icon_rocke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300984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5663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asistente a otras carreras de la UBA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1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Académico FIUBA · Proyecto académico 2026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1005840" cy="0"/>
          </a:xfrm>
          <a:prstGeom prst="line">
            <a:avLst/>
          </a:prstGeom>
          <a:noFill/>
          <a:ln w="31750">
            <a:solidFill>
              <a:srgbClr val="005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ETAPA · REDISEÑO DEL MOTOR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palabras clave a similitud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acá, la primera versión del asistente. Lo que sigue es la devolución que recibimos y el rediseño completo del motor de respuestas.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entrega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05840" cy="0"/>
          </a:xfrm>
          <a:prstGeom prst="line">
            <a:avLst/>
          </a:prstGeom>
          <a:noFill/>
          <a:ln w="31750">
            <a:solidFill>
              <a:srgbClr val="005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devolución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NOS SEÑALÓ</a:t>
            </a:r>
            <a:endParaRPr lang="en-US" sz="1200" dirty="0"/>
          </a:p>
        </p:txBody>
      </p:sp>
      <p:pic>
        <p:nvPicPr>
          <p:cNvPr id="5" name="Image 0" descr="/home/claude/pptx_build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indica que el diccionario está en Python, pero la web usa uno escrito en el HTML</a:t>
            </a:r>
            <a:endParaRPr lang="en-US" sz="1200" dirty="0"/>
          </a:p>
        </p:txBody>
      </p:sp>
      <p:pic>
        <p:nvPicPr>
          <p:cNvPr id="7" name="Image 1" descr="/home/claude/pptx_build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describía una base en Python que la versión publicada no usaba</a:t>
            </a:r>
            <a:endParaRPr lang="en-US" sz="1200" dirty="0"/>
          </a:p>
        </p:txBody>
      </p:sp>
      <p:pic>
        <p:nvPicPr>
          <p:cNvPr id="9" name="Image 2" descr="/home/claude/pptx_build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7063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era una coincidencia de palabras: convenía pasar a algo más complejo</a:t>
            </a:r>
            <a:endParaRPr lang="en-US" sz="1200" dirty="0"/>
          </a:p>
        </p:txBody>
      </p:sp>
      <p:pic>
        <p:nvPicPr>
          <p:cNvPr id="11" name="Image 3" descr="/home/claude/pptx_build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098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Siendo un grupo de tres, había margen para un alcance mayor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548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 AL REVISAR</a:t>
            </a:r>
            <a:endParaRPr lang="en-US" sz="1200" dirty="0"/>
          </a:p>
        </p:txBody>
      </p:sp>
      <p:pic>
        <p:nvPicPr>
          <p:cNvPr id="14" name="Image 4" descr="/home/claude/pptx_build/icon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70992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5663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pre-filtro de fechas bloqueaba consultas válidas antes de buscarlas</a:t>
            </a:r>
            <a:endParaRPr lang="en-US" sz="1200" dirty="0"/>
          </a:p>
        </p:txBody>
      </p:sp>
      <p:pic>
        <p:nvPicPr>
          <p:cNvPr id="16" name="Image 5" descr="/home/claude/pptx_build/icon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24028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5663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en plural que nunca coincidían: "horarios" no reconocía "horario"</a:t>
            </a:r>
            <a:endParaRPr lang="en-US" sz="1200" dirty="0"/>
          </a:p>
        </p:txBody>
      </p:sp>
      <p:pic>
        <p:nvPicPr>
          <p:cNvPr id="18" name="Image 6" descr="/home/claude/pptx_build/icon_rocke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77063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5663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preposición distinta rompía el match: "anotarme en" contra "anotarme a"</a:t>
            </a:r>
            <a:endParaRPr lang="en-US" sz="1200" dirty="0"/>
          </a:p>
        </p:txBody>
      </p:sp>
      <p:pic>
        <p:nvPicPr>
          <p:cNvPr id="20" name="Image 7" descr="/home/claude/pptx_build/icon_rocke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300984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5663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fechas del panel estaban escritas a mano, duplicadas respecto del motor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1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match de palabras a TF-IDF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 ahora el parecido entre una consulta y un 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7" name="Image 0" descr="/home/claude/pptx_build/icon_cod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406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match exacto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una palabra dentro del texto es todo o nada: si la consulta no trae el término exacto, no hay respuesta.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2" name="Image 1" descr="/home/claude/pptx_build/icon_mobil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4068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pregunta es un vector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104 formas de preguntar del corpus se convierten en vectores sobre un vocabulario de 98 términos.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7" name="Image 2" descr="/home/claude/pptx_build/icon_cha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48660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raras pesan más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IDF baja el peso de términos que aparecen en casi todas las preguntas y sube el de los que distinguen.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3" descr="/home/claude/pptx_build/icon_rocke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8660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del coseno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el ángulo entre el vector de la consulta y el de cada tema: 0 es nada en común, 1 es idéntico.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cascada de cuatro niveles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responde por confianza decreciente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4148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8" name="Image 0" descr="/home/claude/pptx_build/icon_cha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59" y="223259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clave exacta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consulta contiene una frase inequívoca, se responde directamente. Es el motor anterior, conservado.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41448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79192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16352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14700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5" name="Image 1" descr="/home/claude/pptx_build/icon_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611" y="2232599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70632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≥ 0,40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807208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 el tema mejor puntuado, aunque la consulta no comparta ninguna palabra exacta con los ejemplos.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9744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46904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45252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2" descr="/home/claude/pptx_build/icon_lin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163" y="2232599"/>
            <a:ext cx="289682" cy="2896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01184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≥ 0,15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937760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es baja: en lugar de arriesgar, se ofrecen las tres opciones más probables como botones.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02552" y="2857500"/>
            <a:ext cx="21945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40296" y="169164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077456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575804" y="2075688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9" name="Image 3" descr="/home/claude/pptx_build/icon_mobi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715" y="2232599"/>
            <a:ext cx="289682" cy="28968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31736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del umbral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068312" y="3200400"/>
            <a:ext cx="161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ayuda con los temas disponibles. Nunca se afirma una respuesta que el motor no sostiene.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Corrección de errores de tipeo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de Levenshtein rescata consultas mal escritas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81328"/>
            <a:ext cx="6949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481328"/>
            <a:ext cx="694944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Shape 5"/>
          <p:cNvSpPr/>
          <p:nvPr/>
        </p:nvSpPr>
        <p:spPr>
          <a:xfrm>
            <a:off x="1216152" y="15727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8" name="Image 0" descr="/home/claude/pptx_build/icon_robo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1644091"/>
            <a:ext cx="131674" cy="1316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Académico FIUBA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167128"/>
            <a:ext cx="3703320" cy="50292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11" name="Text 8"/>
          <p:cNvSpPr/>
          <p:nvPr/>
        </p:nvSpPr>
        <p:spPr>
          <a:xfrm>
            <a:off x="4251960" y="2194560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¿cuando son los parciles?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25880" y="2852928"/>
            <a:ext cx="5349240" cy="1463040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294436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aplicada: parciles → parcial (distancia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Parciales. 1er cuatrimestre: del 13 de abril al 16 de mayo. 2do cuatrimestre: del 14 de septiembre al 24 de octubre.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fi.uba.ar/docentes/calendario-academico 🔗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25880" y="43616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de Levenshtein cuenta los cambios de un carácter necesarios para pasar de una palabra a otra. Se corrige solo a distancia 1.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del motor anterior y el actual sobre 62 consultas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6" name="Image 0" descr="/home/claude/pptx_build/icon_calenda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61446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56,5 % antes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79222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original resolvía correctamente 35 de las 62 consultas evaluadas.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0" name="Image 1" descr="/home/claude/pptx_build/icon_stude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437425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286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después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26151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actual resuelve las 62, aunque el valor está sobreestimado: los umbrales se ajustaron viendo estos mismos casos.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12724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4" name="Image 2" descr="/home/claude/pptx_build/icon_clipboard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260385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108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 0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25880" y="343814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que antes no obtenían ninguna respuesta y hoy sí la obtienen.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95020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8" name="Image 3" descr="/home/claude/pptx_build/icon_search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083345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931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ejemplos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25880" y="42611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distintas de preguntar que alimentan el corpus, repartidas en 18 temas.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Adversidades del camino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problemas que aparecieron y cómo se resolvieron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7" name="Image 0" descr="/home/claude/pptx_build/icon_cod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406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duplicadas en el repositorio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nueva se subía con otro nombre y GitHub Pages seguía publicando la vieja. Se ordenó el repo con un único index.html.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70992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2" name="Image 1" descr="/home/claude/pptx_build/icon_mobil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4068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pudieron ir en archivos aparte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22311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bloquea la lectura de archivos locales. Se optó por un único HTML con la capa de datos separada del motor.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17" name="Image 2" descr="/home/claude/pptx_build/icon_cha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48660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de typos daba falsos positivos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tolerancia de dos caracteres, palabras de otros temas se corregían a términos conocidos. Se bajó a un carácter.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3127248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3355848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56D2"/>
            </a:solidFill>
            <a:prstDash val="solid"/>
          </a:ln>
        </p:spPr>
      </p:sp>
      <p:pic>
        <p:nvPicPr>
          <p:cNvPr id="22" name="Image 3" descr="/home/claude/pptx_build/icon_rocke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8660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ambiguas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0" y="387705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"Cómo me inscribo" y "hasta cuándo me inscribo" caían en el mismo tema. Se agregó detección del tipo de pregunta.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05840" cy="0"/>
          </a:xfrm>
          <a:prstGeom prst="line">
            <a:avLst/>
          </a:prstGeom>
          <a:noFill/>
          <a:ln w="31750">
            <a:solidFill>
              <a:srgbClr val="005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próximos pasos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CONOCIDAS</a:t>
            </a:r>
            <a:endParaRPr lang="en-US" sz="1200" dirty="0"/>
          </a:p>
        </p:txBody>
      </p:sp>
      <p:pic>
        <p:nvPicPr>
          <p:cNvPr id="5" name="Image 0" descr="/home/claude/pptx_build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corrigen errores de tipeo de un carácter</a:t>
            </a:r>
            <a:endParaRPr lang="en-US" sz="1200" dirty="0"/>
          </a:p>
        </p:txBody>
      </p:sp>
      <p:pic>
        <p:nvPicPr>
          <p:cNvPr id="7" name="Image 1" descr="/home/claude/pptx_build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contexto entre preguntas: cada consulta se resuelve sola</a:t>
            </a:r>
            <a:endParaRPr lang="en-US" sz="1200" dirty="0"/>
          </a:p>
        </p:txBody>
      </p:sp>
      <p:pic>
        <p:nvPicPr>
          <p:cNvPr id="9" name="Image 2" descr="/home/claude/pptx_build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7063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filtra dentro de un tema: "finales de diciembre" devuelve todas las mesas</a:t>
            </a:r>
            <a:endParaRPr lang="en-US" sz="1200" dirty="0"/>
          </a:p>
        </p:txBody>
      </p:sp>
      <p:pic>
        <p:nvPicPr>
          <p:cNvPr id="11" name="Image 3" descr="/home/claude/pptx_build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098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calendario se carga a mano y debe actualizarse cada año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548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pic>
        <p:nvPicPr>
          <p:cNvPr id="14" name="Image 4" descr="/home/claude/pptx_build/icon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70992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56632" y="1636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con un set de consultas nuevo, escrito sin haber visto el motor</a:t>
            </a:r>
            <a:endParaRPr lang="en-US" sz="1200" dirty="0"/>
          </a:p>
        </p:txBody>
      </p:sp>
      <p:pic>
        <p:nvPicPr>
          <p:cNvPr id="16" name="Image 5" descr="/home/claude/pptx_build/icon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24028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56632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corpus con consultas reales de estudiantes</a:t>
            </a:r>
            <a:endParaRPr lang="en-US" sz="1200" dirty="0"/>
          </a:p>
        </p:txBody>
      </p:sp>
      <p:pic>
        <p:nvPicPr>
          <p:cNvPr id="18" name="Image 6" descr="/home/claude/pptx_build/icon_rocke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77063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56632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memoria de la consulta anterior para permitir repreguntas</a:t>
            </a:r>
            <a:endParaRPr lang="en-US" sz="1200" dirty="0"/>
          </a:p>
        </p:txBody>
      </p:sp>
      <p:pic>
        <p:nvPicPr>
          <p:cNvPr id="20" name="Image 7" descr="/home/claude/pptx_build/icon_rocke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300984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56632" y="3227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períodos dentro de un mismo tema por mes o cuatrimestre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1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Académico FIUBA 2026-2027</dc:title>
  <dc:subject>PptxGenJS Presentation</dc:subject>
  <dc:creator>FIUBA</dc:creator>
  <cp:lastModifiedBy>FIUBA</cp:lastModifiedBy>
  <cp:revision>1</cp:revision>
  <dcterms:created xsi:type="dcterms:W3CDTF">2026-07-07T13:53:51Z</dcterms:created>
  <dcterms:modified xsi:type="dcterms:W3CDTF">2026-07-07T13:53:51Z</dcterms:modified>
</cp:coreProperties>
</file>